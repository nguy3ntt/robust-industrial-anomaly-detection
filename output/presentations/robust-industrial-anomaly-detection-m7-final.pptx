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cee0cae5d4512" /><Relationship Type="http://schemas.openxmlformats.org/officeDocument/2006/relationships/extended-properties" Target="/docProps/app.xml" Id="R81251006c1a34989" /><Relationship Type="http://schemas.openxmlformats.org/officeDocument/2006/relationships/officeDocument" Target="/ppt/presentation.xml" Id="Re65ef61cd5c140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b72147ab74fcd"/>
  </p:sldMasterIdLst>
  <p:notesMasterIdLst>
    <p:notesMasterId xmlns:r="http://schemas.openxmlformats.org/officeDocument/2006/relationships" r:id="R18d6cd118e6a4f41"/>
  </p:notesMasterIdLst>
  <p:sldIdLst>
    <p:sldId xmlns:r="http://schemas.openxmlformats.org/officeDocument/2006/relationships" id="256" r:id="Rb5a4ac30a45b47f4"/>
    <p:sldId xmlns:r="http://schemas.openxmlformats.org/officeDocument/2006/relationships" id="257" r:id="R88d5f94407154e3f"/>
    <p:sldId xmlns:r="http://schemas.openxmlformats.org/officeDocument/2006/relationships" id="258" r:id="Rab4ed68b9c7a490a"/>
    <p:sldId xmlns:r="http://schemas.openxmlformats.org/officeDocument/2006/relationships" id="259" r:id="R281ab66deb374876"/>
    <p:sldId xmlns:r="http://schemas.openxmlformats.org/officeDocument/2006/relationships" id="260" r:id="R6379041dd1d941cd"/>
    <p:sldId xmlns:r="http://schemas.openxmlformats.org/officeDocument/2006/relationships" id="261" r:id="R07c74fa5ed0b49e7"/>
    <p:sldId xmlns:r="http://schemas.openxmlformats.org/officeDocument/2006/relationships" id="262" r:id="R0d112b78f6984c24"/>
    <p:sldId xmlns:r="http://schemas.openxmlformats.org/officeDocument/2006/relationships" id="263" r:id="Rf34a53052e9940cc"/>
    <p:sldId xmlns:r="http://schemas.openxmlformats.org/officeDocument/2006/relationships" id="264" r:id="R74339cbbca4b4293"/>
    <p:sldId xmlns:r="http://schemas.openxmlformats.org/officeDocument/2006/relationships" id="265" r:id="R1bd42cf7093e45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b74dbe0a4d4fd7" /><Relationship Type="http://schemas.openxmlformats.org/officeDocument/2006/relationships/slideMaster" Target="/ppt/slideMasters/slideMaster1.xml" Id="R413b72147ab74fcd" /><Relationship Type="http://schemas.openxmlformats.org/officeDocument/2006/relationships/notesMaster" Target="/ppt/notesMasters/notesMaster1.xml" Id="R18d6cd118e6a4f41" /><Relationship Type="http://schemas.openxmlformats.org/officeDocument/2006/relationships/presProps" Target="/ppt/presProps.xml" Id="Raaf067f64c6c44e5" /><Relationship Type="http://schemas.openxmlformats.org/officeDocument/2006/relationships/tableStyles" Target="/ppt/tableStyles.xml" Id="Ra620b41db82844e6" /><Relationship Type="http://schemas.openxmlformats.org/officeDocument/2006/relationships/slide" Target="/ppt/slides/slide1.xml" Id="Rb5a4ac30a45b47f4" /><Relationship Type="http://schemas.openxmlformats.org/officeDocument/2006/relationships/slide" Target="/ppt/slides/slide2.xml" Id="R88d5f94407154e3f" /><Relationship Type="http://schemas.openxmlformats.org/officeDocument/2006/relationships/slide" Target="/ppt/slides/slide3.xml" Id="Rab4ed68b9c7a490a" /><Relationship Type="http://schemas.openxmlformats.org/officeDocument/2006/relationships/slide" Target="/ppt/slides/slide4.xml" Id="R281ab66deb374876" /><Relationship Type="http://schemas.openxmlformats.org/officeDocument/2006/relationships/slide" Target="/ppt/slides/slide5.xml" Id="R6379041dd1d941cd" /><Relationship Type="http://schemas.openxmlformats.org/officeDocument/2006/relationships/slide" Target="/ppt/slides/slide6.xml" Id="R07c74fa5ed0b49e7" /><Relationship Type="http://schemas.openxmlformats.org/officeDocument/2006/relationships/slide" Target="/ppt/slides/slide7.xml" Id="R0d112b78f6984c24" /><Relationship Type="http://schemas.openxmlformats.org/officeDocument/2006/relationships/slide" Target="/ppt/slides/slide8.xml" Id="Rf34a53052e9940cc" /><Relationship Type="http://schemas.openxmlformats.org/officeDocument/2006/relationships/slide" Target="/ppt/slides/slide9.xml" Id="R74339cbbca4b4293" /><Relationship Type="http://schemas.openxmlformats.org/officeDocument/2006/relationships/slide" Target="/ppt/slides/slide10.xml" Id="R1bd42cf7093e45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4e438bbce94c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05f3b1bc9f44dd" /><Relationship Type="http://schemas.openxmlformats.org/officeDocument/2006/relationships/notesMaster" Target="/ppt/notesMasters/notesMaster1.xml" Id="R342f89da0b6544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31fc10d2e64d75" /><Relationship Type="http://schemas.openxmlformats.org/officeDocument/2006/relationships/notesMaster" Target="/ppt/notesMasters/notesMaster1.xml" Id="R077b412835bf44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96741c20774b6b" /><Relationship Type="http://schemas.openxmlformats.org/officeDocument/2006/relationships/notesMaster" Target="/ppt/notesMasters/notesMaster1.xml" Id="Reecc4ca8ecce40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1e66a30a44cc5" /><Relationship Type="http://schemas.openxmlformats.org/officeDocument/2006/relationships/notesMaster" Target="/ppt/notesMasters/notesMaster1.xml" Id="R41326db864d24b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d683e30dc490c" /><Relationship Type="http://schemas.openxmlformats.org/officeDocument/2006/relationships/notesMaster" Target="/ppt/notesMasters/notesMaster1.xml" Id="R4ad45ca639654a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4d35b6f5fc4410" /><Relationship Type="http://schemas.openxmlformats.org/officeDocument/2006/relationships/notesMaster" Target="/ppt/notesMasters/notesMaster1.xml" Id="R4db9c95475634d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5f57516a0e464d" /><Relationship Type="http://schemas.openxmlformats.org/officeDocument/2006/relationships/notesMaster" Target="/ppt/notesMasters/notesMaster1.xml" Id="R37752e1de2d74f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16ed4836dd40c5" /><Relationship Type="http://schemas.openxmlformats.org/officeDocument/2006/relationships/notesMaster" Target="/ppt/notesMasters/notesMaster1.xml" Id="R4bfa5a26006842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6482642ebc4a34" /><Relationship Type="http://schemas.openxmlformats.org/officeDocument/2006/relationships/notesMaster" Target="/ppt/notesMasters/notesMaster1.xml" Id="R75985763de704a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0aba04815040b1" /><Relationship Type="http://schemas.openxmlformats.org/officeDocument/2006/relationships/notesMaster" Target="/ppt/notesMasters/notesMaster1.xml" Id="R301cc75bf79e4a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summary. Dataset source: https://github.com/amazon-science/spot-diff . Results: reports/M7_FINAL_EVALUATION.md.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VisA: Zou et al., ECCV 2022, https://www.ecva.net/papers/eccv_2022/papers_ECCV/papers/136900389.pdf . Frozen protocol: docs/FINAL_EVALUATION_PROTOCOL.md.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 ablation values: reports/m7/tables/clean_model_comparison.csv. Method family reference: Roth et al., CVPR 2022, https://openaccess.thecvf.com/content/CVPR2022/html/Roth_Towards_Total_Recall_in_Industrial_Anomaly_Detection_CVPR_2022_paper.html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reports/m7/tables/clean_model_comparison.csv. Macro means across the 12 VisA categories.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reports/m7/tables/robustness_by_family.csv and hypothesis_tests.csv. Two deterministic severities per family, macro across 12 categories.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reports/m7/tables/calibration_by_condition.csv. Clean conformal control assumes exchangeability with calibration-normal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reports/m7/tables/coverage_risk_clean.csv and hypothesis_tests.csv. H4 interval [0.0606, 0.0812].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reports/m7/tables/hypothesis_tests.csv and error_taxonomy.csv. Intervals were predeclared in M4/M5.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reports/M6_PROTOTYPE.md and the frozen M6 benchmark run. Reports exclude original and derived image pixels by default.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synthesis: reports/M7_FINAL_EVALUATION.md. Reproducibility audit: docs/REPRODUCIBILITY_AUDIT.md.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4086cef1c4a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c9d44348304fe2" /><Relationship Type="http://schemas.openxmlformats.org/officeDocument/2006/relationships/slideLayout" Target="/ppt/slideLayouts/slideLayout1.xml" Id="R7033f8bea7d3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33f8bea7d3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dc763f9744e74" /><Relationship Type="http://schemas.openxmlformats.org/officeDocument/2006/relationships/notesSlide" Target="/ppt/notesSlides/notesSlide1.xml" Id="Rbe92b1a1a34744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db571127c432a" /><Relationship Type="http://schemas.openxmlformats.org/officeDocument/2006/relationships/notesSlide" Target="/ppt/notesSlides/notesSlide2.xml" Id="Rbedd65d2394f43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de62614c04288" /><Relationship Type="http://schemas.openxmlformats.org/officeDocument/2006/relationships/notesSlide" Target="/ppt/notesSlides/notesSlide3.xml" Id="R884eb5a1666a4a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9341f6e58408e" /><Relationship Type="http://schemas.openxmlformats.org/officeDocument/2006/relationships/chart" Target="/ppt/slides/charts/chart1.xml" Id="Recd29227d72c4526" /><Relationship Type="http://schemas.openxmlformats.org/officeDocument/2006/relationships/notesSlide" Target="/ppt/notesSlides/notesSlide4.xml" Id="R2b2815e3d28a42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f14bd10d34e33" /><Relationship Type="http://schemas.openxmlformats.org/officeDocument/2006/relationships/chart" Target="/ppt/slides/charts/chart2.xml" Id="R5def95f2a43043ee" /><Relationship Type="http://schemas.openxmlformats.org/officeDocument/2006/relationships/chart" Target="/ppt/slides/charts/chart3.xml" Id="R82d0847bc57a4d28" /><Relationship Type="http://schemas.openxmlformats.org/officeDocument/2006/relationships/notesSlide" Target="/ppt/notesSlides/notesSlide5.xml" Id="R7b60f8ab5db5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d64ad80a94a79" /><Relationship Type="http://schemas.openxmlformats.org/officeDocument/2006/relationships/chart" Target="/ppt/slides/charts/chart4.xml" Id="R954c74e0e4564213" /><Relationship Type="http://schemas.openxmlformats.org/officeDocument/2006/relationships/notesSlide" Target="/ppt/notesSlides/notesSlide6.xml" Id="Rd262656d915741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aebcfe28b4d4b" /><Relationship Type="http://schemas.openxmlformats.org/officeDocument/2006/relationships/chart" Target="/ppt/slides/charts/chart5.xml" Id="R021291951919430c" /><Relationship Type="http://schemas.openxmlformats.org/officeDocument/2006/relationships/notesSlide" Target="/ppt/notesSlides/notesSlide7.xml" Id="R10cab25040e341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d52eaf8224acd" /><Relationship Type="http://schemas.openxmlformats.org/officeDocument/2006/relationships/notesSlide" Target="/ppt/notesSlides/notesSlide8.xml" Id="Rd15de45d89af47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b0e4d3f514791" /><Relationship Type="http://schemas.openxmlformats.org/officeDocument/2006/relationships/notesSlide" Target="/ppt/notesSlides/notesSlide9.xml" Id="R765f78a5755245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b9e5cc4b49fe" /><Relationship Type="http://schemas.openxmlformats.org/officeDocument/2006/relationships/notesSlide" Target="/ppt/notesSlides/notesSlide10.xml" Id="Rce07ff899c0347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Image AUROC</c:v>
          </c:tx>
          <c:spPr>
            <a:solidFill xmlns:a="http://schemas.openxmlformats.org/drawingml/2006/main">
              <a:srgbClr val="E5484D"/>
            </a:solidFill>
          </c:spPr>
          <c:cat>
            <c:strRef>
              <c:f>'Chart Data'!$A$2:$A$4</c:f>
              <c:strCache>
                <c:ptCount val="3"/>
                <c:pt idx="0">
                  <c:v>Mid-scale
2,048</c:v>
                </c:pt>
                <c:pt idx="1">
                  <c:v>Multi-scale
k-center 512</c:v>
                </c:pt>
                <c:pt idx="2">
                  <c:v>Augmented
k-center 512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0.8283</c:v>
                </c:pt>
                <c:pt idx="1">
                  <c:v>0.8679</c:v>
                </c:pt>
                <c:pt idx="2">
                  <c:v>0.8674</c:v>
                </c:pt>
              </c:numCache>
            </c:numRef>
          </c:val>
        </c:ser>
        <c:ser>
          <c:idx val="1"/>
          <c:order val="1"/>
          <c:tx>
            <c:v>Pixel AUROC</c:v>
          </c:tx>
          <c:spPr>
            <a:solidFill xmlns:a="http://schemas.openxmlformats.org/drawingml/2006/main">
              <a:srgbClr val="68A8D8"/>
            </a:solidFill>
          </c:spPr>
          <c:cat>
            <c:strRef>
              <c:f>'Chart Data'!$C$2:$C$4</c:f>
              <c:strCache>
                <c:ptCount val="3"/>
                <c:pt idx="0">
                  <c:v>Mid-scale
2,048</c:v>
                </c:pt>
                <c:pt idx="1">
                  <c:v>Multi-scale
k-center 512</c:v>
                </c:pt>
                <c:pt idx="2">
                  <c:v>Augmented
k-center 512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0.9488</c:v>
                </c:pt>
                <c:pt idx="1">
                  <c:v>0.9555</c:v>
                </c:pt>
                <c:pt idx="2">
                  <c:v>0.9557</c:v>
                </c:pt>
              </c:numCache>
            </c:numRef>
          </c:val>
        </c:ser>
        <c:ser>
          <c:idx val="2"/>
          <c:order val="2"/>
          <c:tx>
            <c:v>AUPRO@30</c:v>
          </c:tx>
          <c:spPr>
            <a:solidFill xmlns:a="http://schemas.openxmlformats.org/drawingml/2006/main">
              <a:srgbClr val="55BD8B"/>
            </a:solidFill>
          </c:spPr>
          <c:cat>
            <c:strRef>
              <c:f>'Chart Data'!$E$2:$E$4</c:f>
              <c:strCache>
                <c:ptCount val="3"/>
                <c:pt idx="0">
                  <c:v>Mid-scale
2,048</c:v>
                </c:pt>
                <c:pt idx="1">
                  <c:v>Multi-scale
k-center 512</c:v>
                </c:pt>
                <c:pt idx="2">
                  <c:v>Augmented
k-center 512</c:v>
                </c:pt>
              </c:strCache>
            </c:strRef>
          </c:cat>
          <c:val>
            <c:numRef>
              <c:f>'Chart Data'!$F$2:$F$4</c:f>
              <c:numCache>
                <c:formatCode>0.000</c:formatCode>
                <c:ptCount val="3"/>
                <c:pt idx="0">
                  <c:v>0.7156</c:v>
                </c:pt>
                <c:pt idx="1">
                  <c:v>0.7692</c:v>
                </c:pt>
                <c:pt idx="2">
                  <c:v>0.7762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6F0F2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934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49343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100D0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B49EA7"/>
              </a:solidFill>
              <a:latin typeface="Bahnschrift"/>
              <a:ea typeface="Bahnschrift"/>
              <a:cs typeface="Bahnschrift"/>
            </a:defRPr>
          </a:pPr>
        </a:p>
      </c:txPr>
    </c:legend>
    <c:plotVisOnly val="1"/>
  </c:chart>
  <c:spPr>
    <a:solidFill xmlns:a="http://schemas.openxmlformats.org/drawingml/2006/main">
      <a:srgbClr val="100D0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Δ image AUROC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F6F0F2"/>
              </a:solidFill>
              <a:latin typeface="Bahnschrift"/>
              <a:ea typeface="Bahnschrift"/>
              <a:cs typeface="Bahnschrif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Delta</c:v>
          </c:tx>
          <c:spPr>
            <a:solidFill xmlns:a="http://schemas.openxmlformats.org/drawingml/2006/main">
              <a:srgbClr val="E5484D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​</c:v>
                </c:pt>
                <c:pt idx="1">
                  <c:v>‌</c:v>
                </c:pt>
                <c:pt idx="2">
                  <c:v>‍</c:v>
                </c:pt>
                <c:pt idx="3">
                  <c:v>⁠</c:v>
                </c:pt>
                <c:pt idx="4">
                  <c:v>⁡</c:v>
                </c:pt>
                <c:pt idx="5">
                  <c:v>⁢</c:v>
                </c:pt>
              </c:strCache>
            </c:strRef>
          </c:cat>
          <c:val>
            <c:numRef>
              <c:f>'Chart Data'!$B$2:$B$7</c:f>
              <c:numCache>
                <c:formatCode>+0.0000;-0.0000</c:formatCode>
                <c:ptCount val="6"/>
                <c:pt idx="0">
                  <c:v>-0.0306</c:v>
                </c:pt>
                <c:pt idx="1">
                  <c:v>-0.014</c:v>
                </c:pt>
                <c:pt idx="2">
                  <c:v>-0.0763</c:v>
                </c:pt>
                <c:pt idx="3">
                  <c:v>-0.0572</c:v>
                </c:pt>
                <c:pt idx="4">
                  <c:v>-0.0032</c:v>
                </c:pt>
                <c:pt idx="5">
                  <c:v>-0.0302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6F0F2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49343C"/>
              </a:solidFill>
            </a:ln>
          </c:spPr>
        </c:majorGridlines>
        <c:numFmt formatCode="+0.00;-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4934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100D0F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0D0F"/>
        </a:solidFill>
      </c:spPr>
    </c:plotArea>
    <c:plotVisOnly val="1"/>
  </c:chart>
  <c:spPr>
    <a:solidFill xmlns:a="http://schemas.openxmlformats.org/drawingml/2006/main">
      <a:srgbClr val="100D0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Δ normal false-positive rate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F6F0F2"/>
              </a:solidFill>
              <a:latin typeface="Bahnschrift"/>
              <a:ea typeface="Bahnschrift"/>
              <a:cs typeface="Bahnschrif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Delta</c:v>
          </c:tx>
          <c:spPr>
            <a:solidFill xmlns:a="http://schemas.openxmlformats.org/drawingml/2006/main">
              <a:srgbClr val="E7A253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JPEG</c:v>
                </c:pt>
                <c:pt idx="1">
                  <c:v>Resize</c:v>
                </c:pt>
                <c:pt idx="2">
                  <c:v>Blur</c:v>
                </c:pt>
                <c:pt idx="3">
                  <c:v>Noise</c:v>
                </c:pt>
                <c:pt idx="4">
                  <c:v>Photo</c:v>
                </c:pt>
                <c:pt idx="5">
                  <c:v>Geometry</c:v>
                </c:pt>
              </c:strCache>
            </c:strRef>
          </c:cat>
          <c:val>
            <c:numRef>
              <c:f>'Chart Data'!$B$2:$B$7</c:f>
              <c:numCache>
                <c:formatCode>+0.0000;-0.0000</c:formatCode>
                <c:ptCount val="6"/>
                <c:pt idx="0">
                  <c:v>0.272</c:v>
                </c:pt>
                <c:pt idx="1">
                  <c:v>0.0607</c:v>
                </c:pt>
                <c:pt idx="2">
                  <c:v>0.473</c:v>
                </c:pt>
                <c:pt idx="3">
                  <c:v>0.3709</c:v>
                </c:pt>
                <c:pt idx="4">
                  <c:v>-0.0158</c:v>
                </c:pt>
                <c:pt idx="5">
                  <c:v>0.1117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6F0F2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49343C"/>
              </a:solidFill>
            </a:ln>
          </c:spPr>
        </c:majorGridlines>
        <c:numFmt formatCode="+0.0;-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4934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100D0F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0D0F"/>
        </a:solidFill>
      </c:spPr>
    </c:plotArea>
    <c:plotVisOnly val="1"/>
  </c:chart>
  <c:spPr>
    <a:solidFill xmlns:a="http://schemas.openxmlformats.org/drawingml/2006/main">
      <a:srgbClr val="100D0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Moderate</c:v>
          </c:tx>
          <c:spPr>
            <a:solidFill xmlns:a="http://schemas.openxmlformats.org/drawingml/2006/main">
              <a:srgbClr val="68A8D8"/>
            </a:solidFill>
          </c:spPr>
          <c:cat>
            <c:strRef>
              <c:f>'Chart Data'!$A$2:$A$8</c:f>
              <c:strCache>
                <c:ptCount val="7"/>
                <c:pt idx="0">
                  <c:v>Clean</c:v>
                </c:pt>
                <c:pt idx="1">
                  <c:v>JPEG</c:v>
                </c:pt>
                <c:pt idx="2">
                  <c:v>Scale</c:v>
                </c:pt>
                <c:pt idx="3">
                  <c:v>Blur</c:v>
                </c:pt>
                <c:pt idx="4">
                  <c:v>Noise</c:v>
                </c:pt>
                <c:pt idx="5">
                  <c:v>Light</c:v>
                </c:pt>
                <c:pt idx="6">
                  <c:v>Geom</c:v>
                </c:pt>
              </c:strCache>
            </c:strRef>
          </c:cat>
          <c:val>
            <c:numRef>
              <c:f>'Chart Data'!$B$2:$B$8</c:f>
              <c:numCache>
                <c:formatCode>0.00</c:formatCode>
                <c:ptCount val="7"/>
                <c:pt idx="0">
                  <c:v>0.043</c:v>
                </c:pt>
                <c:pt idx="1">
                  <c:v>0.0632</c:v>
                </c:pt>
                <c:pt idx="2">
                  <c:v>0.0389</c:v>
                </c:pt>
                <c:pt idx="3">
                  <c:v>0.1127</c:v>
                </c:pt>
                <c:pt idx="4">
                  <c:v>0.0663</c:v>
                </c:pt>
                <c:pt idx="5">
                  <c:v>0.0272</c:v>
                </c:pt>
                <c:pt idx="6">
                  <c:v>0.0461</c:v>
                </c:pt>
              </c:numCache>
            </c:numRef>
          </c:val>
        </c:ser>
        <c:ser>
          <c:idx val="1"/>
          <c:order val="1"/>
          <c:tx>
            <c:v>Severe</c:v>
          </c:tx>
          <c:spPr>
            <a:solidFill xmlns:a="http://schemas.openxmlformats.org/drawingml/2006/main">
              <a:srgbClr val="E5484D"/>
            </a:solidFill>
          </c:spPr>
          <c:cat>
            <c:strRef>
              <c:f>'Chart Data'!$C$2:$C$8</c:f>
              <c:strCache>
                <c:ptCount val="7"/>
                <c:pt idx="0">
                  <c:v>Clean</c:v>
                </c:pt>
                <c:pt idx="1">
                  <c:v>JPEG</c:v>
                </c:pt>
                <c:pt idx="2">
                  <c:v>Scale</c:v>
                </c:pt>
                <c:pt idx="3">
                  <c:v>Blur</c:v>
                </c:pt>
                <c:pt idx="4">
                  <c:v>Noise</c:v>
                </c:pt>
                <c:pt idx="5">
                  <c:v>Light</c:v>
                </c:pt>
                <c:pt idx="6">
                  <c:v>Geom</c:v>
                </c:pt>
              </c:strCache>
            </c:strRef>
          </c:cat>
          <c:val>
            <c:numRef>
              <c:f>'Chart Data'!$D$2:$D$8</c:f>
              <c:numCache>
                <c:formatCode>0.00</c:formatCode>
                <c:ptCount val="7"/>
                <c:pt idx="0">
                  <c:v>0.043</c:v>
                </c:pt>
                <c:pt idx="1">
                  <c:v>0.4696</c:v>
                </c:pt>
                <c:pt idx="2">
                  <c:v>0.1226</c:v>
                </c:pt>
                <c:pt idx="3">
                  <c:v>0.8686</c:v>
                </c:pt>
                <c:pt idx="4">
                  <c:v>0.682</c:v>
                </c:pt>
                <c:pt idx="5">
                  <c:v>0.0281</c:v>
                </c:pt>
                <c:pt idx="6">
                  <c:v>0.2179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6F0F2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934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9343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100D0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B49EA7"/>
              </a:solidFill>
              <a:latin typeface="Bahnschrift"/>
              <a:ea typeface="Bahnschrift"/>
              <a:cs typeface="Bahnschrift"/>
            </a:defRPr>
          </a:pPr>
        </a:p>
      </c:txPr>
    </c:legend>
    <c:plotVisOnly val="1"/>
  </c:chart>
  <c:spPr>
    <a:solidFill xmlns:a="http://schemas.openxmlformats.org/drawingml/2006/main">
      <a:srgbClr val="100D0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Automatic coverage</c:v>
          </c:tx>
          <c:spPr>
            <a:ln xmlns:a="http://schemas.openxmlformats.org/drawingml/2006/main" w="38100">
              <a:solidFill>
                <a:srgbClr val="68A8D8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68A8D8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0.50</c:v>
                </c:pt>
                <c:pt idx="1">
                  <c:v>0.40</c:v>
                </c:pt>
                <c:pt idx="2">
                  <c:v>0.30</c:v>
                </c:pt>
                <c:pt idx="3">
                  <c:v>0.20</c:v>
                </c:pt>
                <c:pt idx="4">
                  <c:v>0.10</c:v>
                </c:pt>
                <c:pt idx="5">
                  <c:v>0.05</c:v>
                </c:pt>
              </c:numCache>
            </c:num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0.6007</c:v>
                </c:pt>
                <c:pt idx="1">
                  <c:v>0.6539</c:v>
                </c:pt>
                <c:pt idx="2">
                  <c:v>0.7158</c:v>
                </c:pt>
                <c:pt idx="3">
                  <c:v>0.8042</c:v>
                </c:pt>
                <c:pt idx="4">
                  <c:v>0.909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Selective risk</c:v>
          </c:tx>
          <c:spPr>
            <a:ln xmlns:a="http://schemas.openxmlformats.org/drawingml/2006/main" w="38100">
              <a:solidFill>
                <a:srgbClr val="E5484D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E5484D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0.50</c:v>
                </c:pt>
                <c:pt idx="1">
                  <c:v>0.40</c:v>
                </c:pt>
                <c:pt idx="2">
                  <c:v>0.30</c:v>
                </c:pt>
                <c:pt idx="3">
                  <c:v>0.20</c:v>
                </c:pt>
                <c:pt idx="4">
                  <c:v>0.10</c:v>
                </c:pt>
                <c:pt idx="5">
                  <c:v>0.05</c:v>
                </c:pt>
              </c:numCache>
            </c:num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0.1183</c:v>
                </c:pt>
                <c:pt idx="1">
                  <c:v>0.1346</c:v>
                </c:pt>
                <c:pt idx="2">
                  <c:v>0.1633</c:v>
                </c:pt>
                <c:pt idx="3">
                  <c:v>0.194</c:v>
                </c:pt>
                <c:pt idx="4">
                  <c:v>0.2361</c:v>
                </c:pt>
                <c:pt idx="5">
                  <c:v>0.2812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ahnschrift"/>
                  <a:ea typeface="Bahnschrift"/>
                  <a:cs typeface="Bahnschrif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B49EA7"/>
                    </a:solidFill>
                    <a:latin typeface="Bahnschrift"/>
                    <a:ea typeface="Bahnschrift"/>
                    <a:cs typeface="Bahnschrift"/>
                  </a:rPr>
                  <a:t>Review boundary 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B49EA7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934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9343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100D0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B49EA7"/>
              </a:solidFill>
              <a:latin typeface="Bahnschrift"/>
              <a:ea typeface="Bahnschrift"/>
              <a:cs typeface="Bahnschrift"/>
            </a:defRPr>
          </a:pPr>
        </a:p>
      </c:txPr>
    </c:legend>
    <c:plotVisOnly val="1"/>
  </c:chart>
  <c:spPr>
    <a:solidFill xmlns:a="http://schemas.openxmlformats.org/drawingml/2006/main">
      <a:srgbClr val="100D0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33B3A-1A6F-40FB-B350-00C8662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AA292-881D-4428-8EFD-F3D439B7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ROBUST / NORMAL-ONLY /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55EA8-3ABD-49F6-A128-4CB2D5B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Industrial anomaly detection</a:t>
            </a:r>
          </a:p>
          <a:p xmlns:a="http://schemas.openxmlformats.org/drawingml/2006/main">
            <a:pPr algn="l">
              <a:defRPr sz="43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under capture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F4805-4A9A-43B0-A49E-1DA5D3D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Detection · localization · robustness · calibration · selective human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10EB0-8C31-4CFD-8EFF-94226B91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4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B85E-44B4-48CC-8582-0216FFB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0.8674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1E005-A752-477C-A8AE-85F6290F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IMAGE AUROC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5CE7E-180E-466F-B867-211DE821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0.9557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A9F82-9C8E-4190-BAF7-FFD77821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PIXEL AUROC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3516A-0036-47C2-927F-C56DF217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48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0.0430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D8849-16A0-45DE-A8C6-6ECFF0D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43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CLEAN NORMAL FPR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2AEF6-AE18-435B-A0C9-5E93D8FF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77.3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BF985-F600-483E-9A7D-D63ADE25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43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MEDIAN CPU LATENCY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CB3B6-04D6-46A0-A0B5-67DE918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M7 final research &amp; portfolio 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51DA1-A58A-4EC4-88BB-DC7D3C13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91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12 categories · 10,821 images · 54 tests</a:t>
            </a:r>
          </a:p>
        </p:txBody>
      </p:sp>
    </p:spTree>
    <p:extLst>
      <p:ext uri="{BB962C8B-B14F-4D97-AF65-F5344CB8AC3E}">
        <p14:creationId xmlns:p14="http://schemas.microsoft.com/office/powerpoint/2010/main" val="1541255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C2CDF-4681-42B4-B2F0-9E0481A6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E20CE-8BA0-4694-AEF2-9F2DA537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RESEARCH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3D226-2DBF-40C8-85F0-1B7AE666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One question, three integrity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58F09-8754-47BD-A581-5DAFF77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178BE-644C-4FBE-B37A-3F85BE1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4B052-5D73-4B81-BCED-6BC4A2BC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62B5C-4682-463D-97C1-5E7066A3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DE0C7-4C24-4216-9A30-6AEAD8DE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Can normal-only evidence remain useful after the camera path changes?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37BA0-9295-41C1-97B0-954E0532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FF370-421D-41FB-A30D-6715D609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18DE-2483-411B-85D0-DDCB38E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8E248-55F2-4575-95CF-30759348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Official test preserved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900E4-CA2B-4CAC-9609-EAE2BAB6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7,358 training-normal</a:t>
            </a:r>
          </a:p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1,301 calibration-normal</a:t>
            </a:r>
          </a:p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2,162 official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177B4-D354-446B-9D5A-64CC714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6386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1FCE7-75AC-413C-B9D9-B5613583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053C1-0E09-4FF7-83E2-341E42A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8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4CFE6-57B6-4F7E-B0AC-61BA88C4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43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19997-5A76-4412-ADD1-4F89EF92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Frozen before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D3CB8-8979-4F67-AF38-09E17D13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ResNet-18 multi-scale features</a:t>
            </a:r>
          </a:p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512 k-center prototypes/category</a:t>
            </a:r>
          </a:p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No test-time threshold editing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7A899-3E81-4A3A-91AE-A81220D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386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4204B-39B0-4A23-B4E6-DC7BF002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911F0-4297-4655-A1FF-5D42D403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7F311-E350-4901-9803-3D474D7B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43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8B19A-6AA0-4883-99A4-AE1D2537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3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Uncertainty stays 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5D2A5-93C1-420A-B508-50B606D1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Conformal p-value</a:t>
            </a:r>
          </a:p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normal / review / anomalous</a:t>
            </a:r>
          </a:p>
          <a:p xmlns:a="http://schemas.openxmlformats.org/drawingml/2006/main">
            <a:pPr algn="l">
              <a:def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shift monitoring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4CF524-86DF-4CC7-9328-1718F56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6386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2830C7-94EA-451F-9E0F-CC535618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Dataset/private images/weights remain outside the public package.</a:t>
            </a:r>
          </a:p>
        </p:txBody>
      </p:sp>
    </p:spTree>
    <p:extLst>
      <p:ext uri="{BB962C8B-B14F-4D97-AF65-F5344CB8AC3E}">
        <p14:creationId xmlns:p14="http://schemas.microsoft.com/office/powerpoint/2010/main" val="1717026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276B2-6FEF-409D-A20F-CE0E9E0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27BE5-7499-4CFE-8ED0-985FD522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MODEL PROGRESSION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561C6-43CD-4143-9F35-1CD9EA70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Representative selection matters more than feature 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E350-A273-4B5E-B223-3240E0F5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E2FCA-E197-49F0-AB8E-83D498ED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8D532-B276-4802-B28D-98182300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6B0FD-3FE6-4092-93B1-BD87FD6C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857500"/>
                <a:gridCol w="1238250"/>
                <a:gridCol w="1190625"/>
                <a:gridCol w="1238250"/>
                <a:gridCol w="114300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7D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Image AUROC</a:t>
                      </a:r>
                    </a:p>
                  </a:txBody>
                  <a:tcPr marL="91440" marR="91440" marT="45720" marB="45720">
                    <a:solidFill>
                      <a:srgbClr val="7D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Normal FPR</a:t>
                      </a:r>
                    </a:p>
                  </a:txBody>
                  <a:tcPr marL="91440" marR="91440" marT="45720" marB="45720">
                    <a:solidFill>
                      <a:srgbClr val="7D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Pixel AUROC</a:t>
                      </a:r>
                    </a:p>
                  </a:txBody>
                  <a:tcPr marL="91440" marR="91440" marT="45720" marB="45720">
                    <a:solidFill>
                      <a:srgbClr val="7D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AUPRO@30</a:t>
                      </a:r>
                    </a:p>
                  </a:txBody>
                  <a:tcPr marL="91440" marR="91440" marT="45720" marB="45720">
                    <a:solidFill>
                      <a:srgbClr val="7D252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Mid-scale random 2,048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0.8283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0.0477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0.9488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0.7156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Mid-scale random 512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0.7615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0.0433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0.9372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0.7005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Multi-scale random 512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0.7465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0.0460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0.9427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0.7226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BD8B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Multi-scale k-center 512</a:t>
                      </a:r>
                    </a:p>
                  </a:txBody>
                  <a:tcPr marL="91440" marR="91440" marT="45720" marB="45720">
                    <a:solidFill>
                      <a:srgbClr val="26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BD8B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0.8679</a:t>
                      </a:r>
                    </a:p>
                  </a:txBody>
                  <a:tcPr marL="91440" marR="91440" marT="45720" marB="45720">
                    <a:solidFill>
                      <a:srgbClr val="26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BD8B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0.0471</a:t>
                      </a:r>
                    </a:p>
                  </a:txBody>
                  <a:tcPr marL="91440" marR="91440" marT="45720" marB="45720">
                    <a:solidFill>
                      <a:srgbClr val="26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BD8B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0.9555</a:t>
                      </a:r>
                    </a:p>
                  </a:txBody>
                  <a:tcPr marL="91440" marR="91440" marT="45720" marB="45720">
                    <a:solidFill>
                      <a:srgbClr val="261D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BD8B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0.7692</a:t>
                      </a:r>
                    </a:p>
                  </a:txBody>
                  <a:tcPr marL="91440" marR="91440" marT="45720" marB="45720">
                    <a:solidFill>
                      <a:srgbClr val="261D2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Unified k-center 1,536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0.7936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0.0566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0.9257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6F0F2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0.6942</a:t>
                      </a:r>
                    </a:p>
                  </a:txBody>
                  <a:tcPr marL="91440" marR="91440" marT="45720" marB="45720">
                    <a:solidFill>
                      <a:srgbClr val="1C171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7D6E2-7C1F-46DD-ACC1-70B78DE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66850"/>
            <a:ext cx="2838450" cy="37147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899D-6A73-4977-8865-8FEFA090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668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32C33-E0E1-4D6A-8D17-6E03E031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9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+0.0396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35B14-613C-48F1-9515-C1324005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IMAGE AUROC</a:t>
            </a:r>
          </a:p>
          <a:p xmlns:a="http://schemas.openxmlformats.org/drawingml/2006/main">
            <a:pPr algn="l">
              <a:defRPr sz="12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vs 2,048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B6DB0-4158-40E3-955F-64B2A535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04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~60%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6DF50-DDE6-4D40-919A-E4633D75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LESS INDEX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8102C-9B14-4EB6-8049-FD36022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33875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Trade-off: frozen mean IoU falls from 0.2507 to 0.1665.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653BD-BD54-4E4A-A9A1-F5E8DD1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Multi-scale features only become effective when the memory represents the category well.</a:t>
            </a:r>
          </a:p>
        </p:txBody>
      </p:sp>
    </p:spTree>
    <p:extLst>
      <p:ext uri="{BB962C8B-B14F-4D97-AF65-F5344CB8AC3E}">
        <p14:creationId xmlns:p14="http://schemas.microsoft.com/office/powerpoint/2010/main" val="1334315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1A913-C99C-4F5C-A2E1-4EDA5F41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9E782-3BF8-4689-85B5-3A291298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CLEAN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5CA73-EEC4-46D3-8205-C81EE556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K-center improves ranking; augmentation keeps the gain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21AA9-BFE3-4245-A88C-C4E974BD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F40BD-96B5-4704-9919-3DE3391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3FBCF-3ED0-4CB4-9989-7E449B56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81926-6069-4D39-8924-1634C8E7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7810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d29227d72c452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00CE3-A09F-44EF-9893-74887BE0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705100" cy="40005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D3AAA-659A-4412-A03B-38CA0A2F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FDDC9-137D-4CD9-83B5-5641898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0.8674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1706B-0F03-4FF0-A1A7-82676903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47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IMAGE AUROC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13C5C-8793-42AF-959C-6BFC3CE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0.9557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D7972-EFBA-4FB3-80CD-25F5D25C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PIXEL AUROC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27796-6D4A-4F0D-B24E-25E7F94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43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0.7762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3A6CE-9C74-4041-835A-E288C99A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AUPRO@30</a:t>
            </a:r>
          </a:p>
        </p:txBody>
      </p:sp>
    </p:spTree>
    <p:extLst>
      <p:ext uri="{BB962C8B-B14F-4D97-AF65-F5344CB8AC3E}">
        <p14:creationId xmlns:p14="http://schemas.microsoft.com/office/powerpoint/2010/main" val="843893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34684-154D-4EA0-BCBA-3CBF1162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B299E-2EFB-4529-8E7F-D72FB11C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CONTROLLED CAPTURE 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80621-F8C6-4EE3-B18E-BB0A203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Blur and noise dominate the failure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1A707-3ECC-4DD6-9D5D-B95FD047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14851-1A9A-4C4A-90CA-8E3D7670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9A365-B2E8-4588-AEC2-B34FC34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543C0-FECE-4BEE-BAB6-103F492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476375" y="1571625"/>
          <a:ext xmlns:a="http://schemas.openxmlformats.org/drawingml/2006/main" cx="44291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ef95f2a43043ee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7191375" y="1571625"/>
          <a:ext xmlns:a="http://schemas.openxmlformats.org/drawingml/2006/main" cx="44291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d0847bc57a4d2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EF1EC-8187-43D1-B561-4086D339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Geometry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69A1D-8383-4905-83D6-8EBCA9E2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Photo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59F88-9A89-459D-96CD-DA1F261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Noise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4862C-D38B-4C10-B774-7FE9F22D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Blur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EAAD0-BE7A-4AC3-AE66-BBFB04D6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Resize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4F767-53EC-4B31-AA3D-0040C4E1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JPEG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78CAD-6CEE-4A24-84F0-7FDF803B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+0.1117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5A919-F689-49B2-B537-9F54F1ED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−0.0158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05685-8F50-42FE-9006-E4700E8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813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+0.3709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9410E-172B-4404-8CFE-97B05C49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73380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+0.4730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49198-FD4A-42F4-9D11-466F56EF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+0.0607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7AF79-C5E3-4B72-9254-CA0DD482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3870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+0.2720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B86CD-ACC8-497A-AEDD-E86D6ACD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Augmentation improves shifted AUROC by +0.0077 [0.0030, 0.0126] at equal memory budget.</a:t>
            </a:r>
          </a:p>
        </p:txBody>
      </p:sp>
    </p:spTree>
    <p:extLst>
      <p:ext uri="{BB962C8B-B14F-4D97-AF65-F5344CB8AC3E}">
        <p14:creationId xmlns:p14="http://schemas.microsoft.com/office/powerpoint/2010/main" val="3750399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C6D60-DBDA-4930-A8BC-1E5256FC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E62BA-4FD5-4B98-AB76-8C59D8C2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CALIBRATION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86C34-44F9-4A7E-A8B4-121EB32E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Clean false-alarm control does not survive severe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F4340-59A7-4CAD-860F-6A3F856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4ECCC-69E3-4331-9206-571C87DA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321CE-5757-4920-BC98-9DC47D91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91A83-F783-4EE6-91DA-D386D3F8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8477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4c74e0e456421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E0BEA-79AE-42CA-BAA2-BA4C0FE7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57350"/>
            <a:ext cx="2209800" cy="3714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B6752-1DA3-42CF-82BE-982B75E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573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C1DE4-3537-4044-A87D-187946EE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002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9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EXCHANGEABILITY</a:t>
            </a:r>
          </a:p>
          <a:p xmlns:a="http://schemas.openxmlformats.org/drawingml/2006/main">
            <a:pPr algn="ctr">
              <a:defRPr sz="18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3D4DD-5C9A-486E-9D01-B8D42DD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71800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0.869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D2B73-BA05-44AA-AC67-994F5F8F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24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severe blur FPR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A8422-6541-47FF-ADD3-CE0F418D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095750"/>
            <a:ext cx="1695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0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Pause automatic use when the capture distribution changes.</a:t>
            </a:r>
          </a:p>
        </p:txBody>
      </p:sp>
    </p:spTree>
    <p:extLst>
      <p:ext uri="{BB962C8B-B14F-4D97-AF65-F5344CB8AC3E}">
        <p14:creationId xmlns:p14="http://schemas.microsoft.com/office/powerpoint/2010/main" val="454165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4682D-0F8A-4F8C-952B-64DE4618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48186-DF8F-49B0-B93C-DBD9CBA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SELECTIVE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85089-1B8E-4C65-B40B-28A1642C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Human review buys lower automatic-decision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35CC2-4181-496E-9200-2594065F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7D6CD-4392-45F7-A9F6-DA173D84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EDAAF-7915-4802-8C5E-9F1E484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112B5-1B7D-429D-8F58-5C3A89E7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1291951919430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911CC-B692-4E8C-88E4-CF8024F8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2705100" cy="39052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6A616-7DE2-4071-85A9-0E371992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666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B5A01-7435-4EB9-9F4B-1CDDE9AD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81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0.804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837A5-3F2C-4FBB-9031-CF9A4D61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AUTOMATIC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190D7-E1C8-4F9C-BCCC-D3F858D5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0.194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9FDE2-B524-415D-9CFD-B928291C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SELECTIVE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01E14-B2CA-4B2A-89F7-BD3864D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−0.071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DC29E-05D4-4D82-BE85-CAAD6294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00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RISK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1D978-B200-4732-B4E7-B5EAB2CE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Primary review boundary: p = 0.20</a:t>
            </a:r>
          </a:p>
        </p:txBody>
      </p:sp>
    </p:spTree>
    <p:extLst>
      <p:ext uri="{BB962C8B-B14F-4D97-AF65-F5344CB8AC3E}">
        <p14:creationId xmlns:p14="http://schemas.microsoft.com/office/powerpoint/2010/main" val="1719002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F54B6-68CA-4675-ADEE-AA33113E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7B6A9-0F58-4AA0-9282-7FEF6FE1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CONFIRMATORY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5FFFE-09C2-41A4-ACAD-4B8608F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Four supported results; one honest non-result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B30FA-7B73-4F3D-AF67-6C7F9368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FA9E8-5B74-41EC-B0A1-D0DFA9FE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0A0F4-8014-49D4-B7BA-78111D44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F5363-13BA-4D71-9743-A6336BF7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52AB7-830F-4DDD-9927-E310399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EA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F8C6A-E9F9-41F8-B1BA-B105392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H2 · multi-scale robustness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F9469-ED47-4049-AD3D-4D28C814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INCONCLUSIVE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CA803-768B-430B-8234-652A19B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24" y="1781175"/>
            <a:ext cx="69665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25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98CE0-30C2-4D2B-95FB-DA375AC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341" y="1714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F2"/>
          </a:solidFill>
          <a:ln xmlns:a="http://schemas.openxmlformats.org/drawingml/2006/main" w="28575">
            <a:solidFill>
              <a:srgbClr val="E7A2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7F21F-B1FB-43C6-85BD-6CF98792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882" y="1638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-0.0072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62BA6-361F-4601-B08C-8ED9611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Intervention · augmentation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7CEE6-DBAF-4B4C-B038-B9E1B26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SUPPORTED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7E77C-F578-49EA-865E-5D139A4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73" y="2524125"/>
            <a:ext cx="21031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E53FA-F877-4556-B1CA-7ABEE3F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763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F2"/>
          </a:solidFill>
          <a:ln xmlns:a="http://schemas.openxmlformats.org/drawingml/2006/main" w="28575">
            <a:solidFill>
              <a:srgbClr val="55BD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BE853-5EE5-4961-B21F-1049846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085" y="2381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+0.0077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5A0EC-4BBA-4A4E-AB6E-C50172AA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H5 · explanation stability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088F9-3E65-4DB1-8F70-576A42F6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SUPPORTED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54DD2-9C98-4A97-92BC-81AC35D4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840" y="3267075"/>
            <a:ext cx="40967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7F74B-D67A-4F39-8FCC-783E79B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760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F2"/>
          </a:solidFill>
          <a:ln xmlns:a="http://schemas.openxmlformats.org/drawingml/2006/main" w="28575">
            <a:solidFill>
              <a:srgbClr val="55BD8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E4B49-0827-4CB3-BF79-80EE00B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810" y="3124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+0.2153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1A773-2C14-4C9C-BA30-BF538BEF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H3 · category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47323-C4F5-4329-9028-546C6CF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SUPPORTED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3C707-B691-45AF-8CC7-86B257ED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010025"/>
            <a:ext cx="385352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F3197-2334-44FB-85C4-C19BB000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976" y="3943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F2"/>
          </a:solidFill>
          <a:ln xmlns:a="http://schemas.openxmlformats.org/drawingml/2006/main" w="28575">
            <a:solidFill>
              <a:srgbClr val="55BD8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82B14-145D-45C7-A64F-A0A5FC06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117" y="3867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+0.0681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49EDC1-E519-4009-BF8B-73BFF75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H4 · selective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DD1C4E-E237-4D23-B977-484E654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SUPPORTED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57A934-AFE8-4E1B-AE14-AC57382A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345" y="4752975"/>
            <a:ext cx="4512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B5860-BF2A-4F73-9184-BD3BE78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080" y="4686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F2"/>
          </a:solidFill>
          <a:ln xmlns:a="http://schemas.openxmlformats.org/drawingml/2006/main" w="28575">
            <a:solidFill>
              <a:srgbClr val="55BD8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46CA77-5C08-4F5E-B919-570EFF41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939" y="4610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+0.0713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DC8967-DA23-4323-BEA7-4B43C47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952625" cy="38100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1A419-942A-43D6-BE8B-96FB03FA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666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3E85DB-335A-4629-A7DA-B2556394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6687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8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ERROR</a:t>
            </a:r>
          </a:p>
          <a:p xmlns:a="http://schemas.openxmlformats.org/drawingml/2006/main">
            <a:pPr algn="ctr">
              <a:defRPr sz="17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TAXONOMY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A7BE7E-AE02-41FA-AA9F-E115D6CE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152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E1  nuisance FPs</a:t>
            </a:r>
          </a:p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E2  photometric misses</a:t>
            </a:r>
          </a:p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E3  spatial instability</a:t>
            </a:r>
          </a:p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E4  category transfer</a:t>
            </a:r>
          </a:p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E5  calibration failure</a:t>
            </a:r>
          </a:p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E6  support trade-off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7560AC-AE8D-4A45-BB83-C8C3AB7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Negative results remain part of the final package—not footnotes.</a:t>
            </a:r>
          </a:p>
        </p:txBody>
      </p:sp>
    </p:spTree>
    <p:extLst>
      <p:ext uri="{BB962C8B-B14F-4D97-AF65-F5344CB8AC3E}">
        <p14:creationId xmlns:p14="http://schemas.microsoft.com/office/powerpoint/2010/main" val="1203797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3AC71D-ED15-417C-86EA-952DFC4F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4E9D7-E7B4-41F7-AA6B-BB9216A6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PRACTICAL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532D9-1B15-43AB-A4F2-27C9B76E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1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A local evidence workstation—not an automated verdict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EAF0D-DFD5-4FA8-9D67-7A1A81C4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85D50-CF4D-49A6-A6B6-B97EA818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F67B9-5B6A-4CFC-8FAF-6E7A458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58A44-88AA-4E45-B0C1-9EFBA269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AEFF0-D0BF-4317-90A1-2278694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5336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E06CE-2AA9-44D4-A339-D1A00CA0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9CE5B-78F8-4198-8A17-8D2173C3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28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94E90-8554-46C7-BD8E-D0CBB5D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812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Known category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725E5-937C-4160-9B97-0ABC602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0375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operator selects verified product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1CAFB-CA59-4319-9C5E-CB2781E9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25336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6B4BE-045A-44D5-A6A0-61F5DC26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74233-7E8C-490B-966D-4B7D57D1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828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72ECE-8D1A-4EC1-9CE2-14067119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812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In-memory inference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DE25A-0AC4-4FA1-A9D3-B55C3E2A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00375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centered crop · heatmap · score · p-value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D9943-505D-43BC-BA5A-933C87AD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5336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F19AE-EBFB-4E34-A755-BA1F3BA1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1BC85-D180-4B26-88A6-2D745050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28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97A0F-691A-40D5-B492-2D15B6EC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812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Three-way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9CE4D-7454-4E88-960A-3254A31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00375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normal · human review · anomalous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AAD6B-4E9E-4F42-ACF2-110B4904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25336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7C4F63-99A4-4F34-9896-093A7572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25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A4009-BAA8-4B0D-B84F-B91E7AA6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28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2FDA8-860D-4595-B33B-BD7A0B8C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812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Metadata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3D6D7-4255-4EEE-832A-FA86A9F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00375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pixels excluded by default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056DB-F210-4582-9AD2-599FA8F8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43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EC679-C5DC-474F-A91C-67E42D5F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77.3 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80099-8EE0-4D83-A377-3DED5D28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MEDIAN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C0460D-B5E2-4064-9D77-F6A1ABB5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24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108.8 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9B309A-451D-4B5A-8C32-AF5A9CB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9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P95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0FE3B6-0F51-4995-A1FC-506D2311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243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12.55/s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0EFC5F-A9D2-428D-B92A-E406C90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96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THROUGHPUT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DA0360-5CCE-4E5F-B33C-452DEBCF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68A8D8"/>
                </a:solidFill>
                <a:latin typeface="Bahnschrift"/>
                <a:ea typeface="Bahnschrift"/>
                <a:cs typeface="Bahnschrift"/>
              </a:rPr>
              <a:t>49.97 MB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5527DA-B012-4B30-B618-40F3F9E5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19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RUNTIME ARTIFACTS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80681-1AFB-4B5B-9FBE-6C5A078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816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Loopback only · bounded uploads · serialized inference · verified provenance</a:t>
            </a:r>
          </a:p>
        </p:txBody>
      </p:sp>
    </p:spTree>
    <p:extLst>
      <p:ext uri="{BB962C8B-B14F-4D97-AF65-F5344CB8AC3E}">
        <p14:creationId xmlns:p14="http://schemas.microsoft.com/office/powerpoint/2010/main" val="934797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339CE-8224-4D65-AEB5-DFE316C3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290E2-CD00-4A97-8F6A-A50EABC0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61CE6-E937-4307-BDC0-B66C89C8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The boundary is the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CD998-7117-4B8A-8011-99741ACC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70FA6-E14A-4583-B43B-73734613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EF2F1-DDD1-40C6-BAD7-D96DD15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ROBUST INDUSTRIAL ANOMALY DETECTION · M7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BEB0D-2CFA-43F2-8042-53169F68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>
                <a:solidFill>
                  <a:srgbClr val="B49EA7"/>
                </a:solidFill>
                <a:latin typeface="Bahnschrift"/>
                <a:ea typeface="Bahnschrift"/>
                <a:cs typeface="Bahnschrift"/>
              </a:rPr>
              <a:t>2026-09-23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3D72E-FE8E-4D11-B3C5-BD59AF23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678EA-17D2-497E-B5EE-862224DC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08511-EF22-4DA4-AD86-CB3BA18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BD8B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5BD8B"/>
                </a:solidFill>
                <a:latin typeface="Bahnschrift"/>
                <a:ea typeface="Bahnschrift"/>
                <a:cs typeface="Bahnschrift"/>
              </a:rPr>
              <a:t>WHAT HOLDS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61326-B5AE-41EF-90FA-FEF18B97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Strong clean ranking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Useful spatial evidence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Supported augmentation gain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Cleaner category calibration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Measurable review trade-off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ACB4B-97F3-406B-ACC0-329D4C9A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C171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E187F-944D-4715-901C-FC41ABDC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015BE-7CC3-4E32-A55D-7BBE9BBB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5484D"/>
                </a:solidFill>
                <a:latin typeface="Bahnschrift"/>
                <a:ea typeface="Bahnschrift"/>
                <a:cs typeface="Bahnschrift"/>
              </a:rPr>
              <a:t>WHAT DOES NOT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4EF08-7203-4015-96A3-36DE3991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33625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No shift-wide FPR guarantee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No reliable unseen category transfer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No causal meaning for heatmaps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No certified quality verdict</a:t>
            </a:r>
          </a:p>
          <a:p xmlns:a="http://schemas.openxmlformats.org/drawingml/2006/main">
            <a:pPr algn="l">
              <a:def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F6F0F2"/>
                </a:solidFill>
                <a:latin typeface="Bahnschrift"/>
                <a:ea typeface="Bahnschrift"/>
                <a:cs typeface="Bahnschrift"/>
              </a:rPr>
              <a:t>No factory trial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C8C66-643D-4296-866F-CDF8DE93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3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A253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E7A253"/>
                </a:solidFill>
                <a:latin typeface="Bahnschrift"/>
                <a:ea typeface="Bahnschrift"/>
                <a:cs typeface="Bahnschrift"/>
              </a:rPr>
              <a:t>Use only with controlled capture, verified category memory, drift monitoring, and visible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105349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2026-09-23T13:34:33.4640000Z</dcterms:created>
  <dcterms:modified xsi:type="dcterms:W3CDTF">2026-09-23T13:34:33.4640000Z</dcterms:modified>
</coreProperties>
</file>